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2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Pure ML</c:v>
                </c:pt>
              </c:strCache>
            </c:strRef>
          </c:tx>
          <c:spPr>
            <a:solidFill>
              <a:srgbClr val="A9BEC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1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XGBoost</c:v>
                </c:pt>
                <c:pt idx="2">
                  <c:v>CatBoost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0.31</c:v>
                </c:pt>
                <c:pt idx="1">
                  <c:v>-0.2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65-844D-98FF-11D5D610EF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 (physics-informed)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1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XGBoost</c:v>
                </c:pt>
                <c:pt idx="2">
                  <c:v>CatBoost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</c:v>
                </c:pt>
                <c:pt idx="1">
                  <c:v>0.93</c:v>
                </c:pt>
                <c:pt idx="2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65-844D-98FF-11D5D610EF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1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0.4"/>
        </c:scaling>
        <c:delete val="0"/>
        <c:axPos val="l"/>
        <c:majorGridlines>
          <c:spPr>
            <a:ln w="12700" cap="flat">
              <a:solidFill>
                <a:srgbClr val="E7EF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E7280"/>
                    </a:solidFill>
                    <a:latin typeface="Calibri"/>
                  </a:defRPr>
                </a:pPr>
                <a:r>
                  <a:rPr lang="en-IN" sz="1100" b="0" i="0" u="none" strike="noStrike">
                    <a:solidFill>
                      <a:srgbClr val="5E7280"/>
                    </a:solidFill>
                    <a:latin typeface="Calibri"/>
                  </a:rPr>
                  <a:t>Held-out test R²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E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930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920240"/>
            <a:ext cx="5120640" cy="5120640"/>
          </a:xfrm>
          <a:prstGeom prst="ellipse">
            <a:avLst/>
          </a:prstGeom>
          <a:solidFill>
            <a:srgbClr val="1C7C8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3474720"/>
            <a:ext cx="4206240" cy="420624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463040" y="4572000"/>
            <a:ext cx="3474720" cy="3474720"/>
          </a:xfrm>
          <a:prstGeom prst="ellipse">
            <a:avLst/>
          </a:prstGeom>
          <a:solidFill>
            <a:srgbClr val="1C7C8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PORTFOLIO  ·  STA DISCUSSION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&amp; Biomedical Imaging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48640" y="3310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across molecular discovery, medical imaging, and physics-based simulation.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530352" cy="530352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deck/assets/atom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4475988"/>
            <a:ext cx="265176" cy="2651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43434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ML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620670" y="4343400"/>
            <a:ext cx="530352" cy="530352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assets/brain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258" y="447598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79038" y="43434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+ CFD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768596" y="4343400"/>
            <a:ext cx="530352" cy="530352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assets/server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447598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26964" y="43434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764731" y="4343400"/>
            <a:ext cx="530352" cy="530352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deck/assets/sliders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7319" y="4475988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23099" y="43434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create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2651760"/>
          </a:xfrm>
          <a:prstGeom prst="roundRect">
            <a:avLst>
              <a:gd name="adj" fmla="val 4828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58368" cy="658368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assets/atom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212396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34056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Drug Discovery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264408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that prioritizes the right molecules earlier — candidate selection and property prediction.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3886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DrugHunter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938528" y="3886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38528" y="3886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Solubility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29684" y="1691640"/>
            <a:ext cx="3529584" cy="2651760"/>
          </a:xfrm>
          <a:prstGeom prst="roundRect">
            <a:avLst>
              <a:gd name="adj" fmla="val 4828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04004" y="1965960"/>
            <a:ext cx="658368" cy="658368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deck/assets/brai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012" y="2123968"/>
            <a:ext cx="342351" cy="3423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4004" y="2734056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Imaging &amp; Simulation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04004" y="3264408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MRI into a patient-specific fluid-dynamics model of how a drug spreads.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04004" y="3886200"/>
            <a:ext cx="1488643" cy="292608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604004" y="3886200"/>
            <a:ext cx="14886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Digital Twin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202375" y="3886200"/>
            <a:ext cx="523037" cy="292608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202375" y="3886200"/>
            <a:ext cx="523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NGTX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110728" y="1691640"/>
            <a:ext cx="3529584" cy="2651760"/>
          </a:xfrm>
          <a:prstGeom prst="roundRect">
            <a:avLst>
              <a:gd name="adj" fmla="val 4828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385048" y="1965960"/>
            <a:ext cx="658368" cy="658368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/home/claude/deck/assets/serve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056" y="2123968"/>
            <a:ext cx="342351" cy="34235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85048" y="2734056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 &amp; Optimization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8385048" y="3264408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models into production and optimizing operations with OR methods.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385048" y="3886200"/>
            <a:ext cx="1247242" cy="292608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8385048" y="3886200"/>
            <a:ext cx="1247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Gateway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9742018" y="3886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9742018" y="3886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SFS-sizing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48640" y="4663440"/>
            <a:ext cx="2608326" cy="13716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58368" y="4773168"/>
            <a:ext cx="238887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</a:t>
            </a:r>
            <a:endParaRPr lang="en-US" sz="2700" dirty="0"/>
          </a:p>
        </p:txBody>
      </p:sp>
      <p:sp>
        <p:nvSpPr>
          <p:cNvPr id="33" name="Text 28"/>
          <p:cNvSpPr/>
          <p:nvPr/>
        </p:nvSpPr>
        <p:spPr>
          <a:xfrm>
            <a:off x="658368" y="5431536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→ CFD per case  (vs 1–5 hrs manual)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3376422" y="4663440"/>
            <a:ext cx="2608326" cy="13716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3486150" y="4773168"/>
            <a:ext cx="238887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~0.93</a:t>
            </a:r>
            <a:endParaRPr lang="en-US" sz="2700" dirty="0"/>
          </a:p>
        </p:txBody>
      </p:sp>
      <p:sp>
        <p:nvSpPr>
          <p:cNvPr id="36" name="Text 31"/>
          <p:cNvSpPr/>
          <p:nvPr/>
        </p:nvSpPr>
        <p:spPr>
          <a:xfrm>
            <a:off x="3486150" y="5431536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Solubility R² — hybrid model, held-out test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204204" y="4663440"/>
            <a:ext cx="2608326" cy="13716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313932" y="4773168"/>
            <a:ext cx="238887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→ 95%</a:t>
            </a:r>
            <a:endParaRPr lang="en-US" sz="2700" dirty="0"/>
          </a:p>
        </p:txBody>
      </p:sp>
      <p:sp>
        <p:nvSpPr>
          <p:cNvPr id="39" name="Text 34"/>
          <p:cNvSpPr/>
          <p:nvPr/>
        </p:nvSpPr>
        <p:spPr>
          <a:xfrm>
            <a:off x="6313932" y="5431536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extraction accuracy uplift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9031986" y="4663440"/>
            <a:ext cx="2608326" cy="13716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9141714" y="4773168"/>
            <a:ext cx="238887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2700" dirty="0"/>
          </a:p>
        </p:txBody>
      </p:sp>
      <p:sp>
        <p:nvSpPr>
          <p:cNvPr id="42" name="Text 37"/>
          <p:cNvSpPr/>
          <p:nvPr/>
        </p:nvSpPr>
        <p:spPr>
          <a:xfrm>
            <a:off x="9141714" y="5431536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Business-unit optimization delivered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  ·  Work Portfolio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920240"/>
            <a:ext cx="5120640" cy="5120640"/>
          </a:xfrm>
          <a:prstGeom prst="ellipse">
            <a:avLst/>
          </a:prstGeom>
          <a:solidFill>
            <a:srgbClr val="1C7C8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3474720"/>
            <a:ext cx="4206240" cy="420624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463040" y="4572000"/>
            <a:ext cx="3474720" cy="3474720"/>
          </a:xfrm>
          <a:prstGeom prst="ellipse">
            <a:avLst/>
          </a:prstGeom>
          <a:solidFill>
            <a:srgbClr val="1C7C8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DD4B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Drug Discovery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that helps chemists prioritize the right molecules, earlier.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deck/assets/vial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532638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3856" y="5212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DrugHunter — candidate selection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990442" y="5212080"/>
            <a:ext cx="457200" cy="457200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assets/flask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742" y="53263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5658" y="5212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Solubility — property prediction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DRUG DISCOVERY  ·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DrugHunter — molecular candidate selection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SMILES string to a ranked candidate — a fast, repeatable model of medicinal-chemistry judgment.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1956816" cy="841248"/>
          </a:xfrm>
          <a:prstGeom prst="roundRect">
            <a:avLst>
              <a:gd name="adj" fmla="val 8696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9224" y="2057400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labels</a:t>
            </a:r>
            <a:endParaRPr lang="en-US" sz="1150" dirty="0"/>
          </a:p>
        </p:txBody>
      </p:sp>
      <p:pic>
        <p:nvPicPr>
          <p:cNvPr id="7" name="Image 0" descr="/home/claude/deck/assets/flow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896" y="2368296"/>
            <a:ext cx="219456" cy="219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62072" y="2057400"/>
            <a:ext cx="1956816" cy="841248"/>
          </a:xfrm>
          <a:prstGeom prst="roundRect">
            <a:avLst>
              <a:gd name="adj" fmla="val 8696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916936" y="2057400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descriptors</a:t>
            </a:r>
            <a:endParaRPr lang="en-US" sz="1150" dirty="0"/>
          </a:p>
        </p:txBody>
      </p:sp>
      <p:pic>
        <p:nvPicPr>
          <p:cNvPr id="10" name="Image 1" descr="/home/claude/deck/assets/flow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368296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29784" y="2057400"/>
            <a:ext cx="1956816" cy="841248"/>
          </a:xfrm>
          <a:prstGeom prst="roundRect">
            <a:avLst>
              <a:gd name="adj" fmla="val 8696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184648" y="2057400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50" dirty="0"/>
          </a:p>
        </p:txBody>
      </p:sp>
      <p:pic>
        <p:nvPicPr>
          <p:cNvPr id="13" name="Image 2" descr="/home/claude/deck/assets/flow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368296"/>
            <a:ext cx="219456" cy="21945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397496" y="2057400"/>
            <a:ext cx="1956816" cy="841248"/>
          </a:xfrm>
          <a:prstGeom prst="roundRect">
            <a:avLst>
              <a:gd name="adj" fmla="val 8696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7452360" y="2057400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pic>
        <p:nvPicPr>
          <p:cNvPr id="16" name="Image 3" descr="/home/claude/deck/assets/flow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368296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665208" y="2057400"/>
            <a:ext cx="1956816" cy="841248"/>
          </a:xfrm>
          <a:prstGeom prst="roundRect">
            <a:avLst>
              <a:gd name="adj" fmla="val 8696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9720072" y="2057400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3291840"/>
            <a:ext cx="5358384" cy="2148840"/>
          </a:xfrm>
          <a:prstGeom prst="roundRect">
            <a:avLst>
              <a:gd name="adj" fmla="val 5957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822960" y="3547872"/>
            <a:ext cx="548640" cy="548640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/home/claude/deck/assets/puzz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3679546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36192" y="3602736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22960" y="4224528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sets are huge and experimental screening is expensive. DrugHunter learns from molecules chemists previously selected vs. rejected, then scores new molecules — helping triage which candidates are worth pursuing.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81928" y="3291840"/>
            <a:ext cx="5358384" cy="2148840"/>
          </a:xfrm>
          <a:prstGeom prst="roundRect">
            <a:avLst>
              <a:gd name="adj" fmla="val 5957"/>
            </a:avLst>
          </a:prstGeom>
          <a:solidFill>
            <a:srgbClr val="0B213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6556248" y="3547872"/>
            <a:ext cx="548640" cy="548640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/home/claude/deck/assets/pipeline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922" y="3679546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69480" y="3602736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6556248" y="4224528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out the inference pipeline</a:t>
            </a:r>
            <a:r>
              <a:rPr lang="en-US" sz="1200" dirty="0">
                <a:solidFill>
                  <a:srgbClr val="D3E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productionizing trained models behind a FastAPI service so the discovery team can score new molecule sets on demand, end-to-end from a SMILES file to predictions.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1234440" y="5650992"/>
            <a:ext cx="859170" cy="310896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1234440" y="5650992"/>
            <a:ext cx="859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2221626" y="5650992"/>
            <a:ext cx="1035832" cy="310896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2221626" y="5650992"/>
            <a:ext cx="1035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3385475" y="5650992"/>
            <a:ext cx="1389156" cy="310896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3385475" y="5650992"/>
            <a:ext cx="138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902647" y="5650992"/>
            <a:ext cx="2184136" cy="310896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4902647" y="5650992"/>
            <a:ext cx="218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descriptors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7214799" y="5650992"/>
            <a:ext cx="947501" cy="310896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7214799" y="5650992"/>
            <a:ext cx="9475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8531258" y="5650992"/>
            <a:ext cx="1348033" cy="310896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8290316" y="5669280"/>
            <a:ext cx="1781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Remote-IDE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  ·  Work Portfolio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DRUG DISCOVERY  ·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Solubility prediction — physics-informed ML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3977640"/>
          </a:xfrm>
          <a:prstGeom prst="roundRect">
            <a:avLst>
              <a:gd name="adj" fmla="val 3733"/>
            </a:avLst>
          </a:prstGeom>
          <a:solidFill>
            <a:srgbClr val="0B213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603504" cy="603504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assets/flask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1" y="2202241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523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D3E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solubility is a leading cause of late-stage drug failure. Predicting a molecule's solubility (logS) up front saves costly lab work and guides formulation decisions early.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6634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swept
</a:t>
            </a:r>
            <a:r>
              <a:rPr lang="en-US" sz="1100" dirty="0">
                <a:solidFill>
                  <a:srgbClr val="AE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· KNN · Random Forest · Extra Trees · XGBoost · CatBoost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534156" cy="1847088"/>
          </a:xfrm>
          <a:prstGeom prst="roundRect">
            <a:avLst>
              <a:gd name="adj" fmla="val 5941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35424" y="2020824"/>
            <a:ext cx="512064" cy="512064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assets/databas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319" y="2143719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792" y="2057400"/>
            <a:ext cx="2528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35424" y="2624328"/>
            <a:ext cx="30586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solubility datasets (CMAC, BigSol, SolProp, Paton) plus held-out external sets (ETC, EPP) for honest generalization.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06156" y="1783080"/>
            <a:ext cx="3534156" cy="1847088"/>
          </a:xfrm>
          <a:prstGeom prst="roundRect">
            <a:avLst>
              <a:gd name="adj" fmla="val 5941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43900" y="2020824"/>
            <a:ext cx="512064" cy="512064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ck/assets/atom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795" y="2143719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2268" y="2057400"/>
            <a:ext cx="2528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43900" y="2624328"/>
            <a:ext cx="30586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families: COSMO (quantum-chemistry, physics-based) and PaDEL (molecular-structure descriptors).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297680" y="3904488"/>
            <a:ext cx="3534156" cy="1847088"/>
          </a:xfrm>
          <a:prstGeom prst="roundRect">
            <a:avLst>
              <a:gd name="adj" fmla="val 5941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535424" y="4142232"/>
            <a:ext cx="512064" cy="512064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ck/assets/layer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8319" y="4265127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93792" y="4178808"/>
            <a:ext cx="2528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strategies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535424" y="4745736"/>
            <a:ext cx="30586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“Pure” ML on descriptors vs. “Hybrid” — physics-informed, adding COSMO-RS predicted solubility.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8106156" y="3904488"/>
            <a:ext cx="3534156" cy="1847088"/>
          </a:xfrm>
          <a:prstGeom prst="roundRect">
            <a:avLst>
              <a:gd name="adj" fmla="val 5941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343900" y="4142232"/>
            <a:ext cx="512064" cy="512064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deck/assets/check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795" y="4265127"/>
            <a:ext cx="266273" cy="26627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02268" y="4178808"/>
            <a:ext cx="2528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343900" y="4745736"/>
            <a:ext cx="30586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k-fold by unique solute (no leakage), parity plots, PCA chemical-space coverage, ElasticNet feature selection.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  ·  Work Portfolio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DRUG DISCOVERY  ·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physics-informed “Hybrid” models win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59436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790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R² (PaDEL descriptors, experimental logS). Higher is better; 1.0 is perfect.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858000" y="1783080"/>
            <a:ext cx="4782312" cy="1234440"/>
          </a:xfrm>
          <a:prstGeom prst="roundRect">
            <a:avLst>
              <a:gd name="adj" fmla="val 8889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095744" y="2039112"/>
            <a:ext cx="512064" cy="512064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assets/trend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639" y="216200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54112" y="2002536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≫ Pure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754112" y="2350008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COSMO-RS physics lifted held-out R² from ~0.3–0.5 to ~0.93 — a decisive jump in accuracy.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58000" y="3154680"/>
            <a:ext cx="4782312" cy="1234440"/>
          </a:xfrm>
          <a:prstGeom prst="roundRect">
            <a:avLst>
              <a:gd name="adj" fmla="val 8889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095744" y="3410712"/>
            <a:ext cx="512064" cy="512064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assets/bol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639" y="3533607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54112" y="3374136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led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754112" y="3721608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and XGBoost were the most accurate and stable across descriptor sets and folds.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58000" y="4526280"/>
            <a:ext cx="4782312" cy="1234440"/>
          </a:xfrm>
          <a:prstGeom prst="roundRect">
            <a:avLst>
              <a:gd name="adj" fmla="val 8889"/>
            </a:avLst>
          </a:prstGeom>
          <a:solidFill>
            <a:srgbClr val="0B213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095744" y="4782312"/>
            <a:ext cx="512064" cy="512064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ck/assets/target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8639" y="490520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54112" y="4745736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next step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754112" y="5093208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3E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entirely unseen chemistry (external EPP/ETC), accuracy dropped — I quantified the domain-shift gap, pointing to more physics-informed features next.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  ·  Work Portfolio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920240"/>
            <a:ext cx="5120640" cy="5120640"/>
          </a:xfrm>
          <a:prstGeom prst="ellipse">
            <a:avLst/>
          </a:prstGeom>
          <a:solidFill>
            <a:srgbClr val="1C7C8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3474720"/>
            <a:ext cx="4206240" cy="420624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463040" y="4572000"/>
            <a:ext cx="3474720" cy="3474720"/>
          </a:xfrm>
          <a:prstGeom prst="ellipse">
            <a:avLst/>
          </a:prstGeom>
          <a:solidFill>
            <a:srgbClr val="1C7C8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DD4B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Imaging &amp; Simulation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MRI to a patient-specific fluid-dynamics model of drug delivery.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deck/assets/brain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532638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3856" y="5212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Digital Twin — MRI → CFD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639312" y="5212080"/>
            <a:ext cx="457200" cy="457200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assets/targe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612" y="53263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24528" y="5212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NGTX — imaging-model iteration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IMAGING  ·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Digital Twin for intrathecal drug delivery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371600"/>
          </a:xfrm>
          <a:prstGeom prst="roundRect">
            <a:avLst>
              <a:gd name="adj" fmla="val 9333"/>
            </a:avLst>
          </a:prstGeom>
          <a:solidFill>
            <a:srgbClr val="0B213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139696"/>
            <a:ext cx="603504" cy="603504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assets/brain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89" y="2284537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267712"/>
            <a:ext cx="9720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D8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Intrathecal delivery injects drug into the spinal fluid to reach the brain. Simulating how it spreads needs an accurate 3D map of the spinal fluid space — today built by hand, ~1–5 hours per case, via an external vendor.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 —  an automated, end-to-end pipeline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3703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1792" y="3703320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MRI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</p:txBody>
      </p:sp>
      <p:pic>
        <p:nvPicPr>
          <p:cNvPr id="12" name="Image 1" descr="/home/claude/deck/assets/fl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4073652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907792" y="3703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962656" y="3703320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segmentation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(cord + CSF)</a:t>
            </a:r>
            <a:endParaRPr lang="en-US" sz="1150" dirty="0"/>
          </a:p>
        </p:txBody>
      </p:sp>
      <p:pic>
        <p:nvPicPr>
          <p:cNvPr id="15" name="Image 2" descr="/home/claude/deck/assets/fl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4073652"/>
            <a:ext cx="219456" cy="2194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248656" y="3703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303520" y="3703320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Watertight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mesh</a:t>
            </a:r>
            <a:endParaRPr lang="en-US" sz="1150" dirty="0"/>
          </a:p>
        </p:txBody>
      </p:sp>
      <p:pic>
        <p:nvPicPr>
          <p:cNvPr id="18" name="Image 3" descr="/home/claude/deck/assets/fl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073652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589520" y="3703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7644384" y="3703320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simulation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(CSF flow)</a:t>
            </a:r>
            <a:endParaRPr lang="en-US" sz="1150" dirty="0"/>
          </a:p>
        </p:txBody>
      </p:sp>
      <p:pic>
        <p:nvPicPr>
          <p:cNvPr id="21" name="Image 4" descr="/home/claude/deck/assets/fl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4073652"/>
            <a:ext cx="219456" cy="21945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930384" y="3703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9985248" y="3703320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Drug-spread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5074920"/>
            <a:ext cx="5436108" cy="960120"/>
          </a:xfrm>
          <a:prstGeom prst="roundRect">
            <a:avLst>
              <a:gd name="adj" fmla="val 11429"/>
            </a:avLst>
          </a:prstGeom>
          <a:solidFill>
            <a:srgbClr val="F2F7F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658368" y="5184648"/>
            <a:ext cx="521665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 / case</a:t>
            </a:r>
            <a:endParaRPr lang="en-US" sz="2700" dirty="0"/>
          </a:p>
        </p:txBody>
      </p:sp>
      <p:sp>
        <p:nvSpPr>
          <p:cNvPr id="26" name="Text 19"/>
          <p:cNvSpPr/>
          <p:nvPr/>
        </p:nvSpPr>
        <p:spPr>
          <a:xfrm>
            <a:off x="658368" y="5612587"/>
            <a:ext cx="5216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runtime vs. 1–5 hours manual today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204204" y="5074920"/>
            <a:ext cx="5436108" cy="960120"/>
          </a:xfrm>
          <a:prstGeom prst="roundRect">
            <a:avLst>
              <a:gd name="adj" fmla="val 11429"/>
            </a:avLst>
          </a:prstGeom>
          <a:solidFill>
            <a:srgbClr val="F2F7F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6313932" y="5184648"/>
            <a:ext cx="521665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</a:t>
            </a:r>
            <a:endParaRPr lang="en-US" sz="2700" dirty="0"/>
          </a:p>
        </p:txBody>
      </p:sp>
      <p:sp>
        <p:nvSpPr>
          <p:cNvPr id="29" name="Text 22"/>
          <p:cNvSpPr/>
          <p:nvPr/>
        </p:nvSpPr>
        <p:spPr>
          <a:xfrm>
            <a:off x="6313932" y="5612587"/>
            <a:ext cx="5216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alternative to an external-vendor step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  ·  Work Portfolio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IMAGING  ·  01 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mesh &amp; trustworthy uncertainty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assets/sca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20105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85623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SegResNet (MONAI)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16736" y="2130552"/>
            <a:ext cx="5358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spinal cord and CSF space directly from a T2-weighted MRI volume.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62072"/>
            <a:ext cx="566928" cy="566928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deck/assets/cube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2998135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84378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loss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16736" y="3118104"/>
            <a:ext cx="5358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DiceCE + Soft-clDice keeps structures connected — so the meshes are CFD-ready, not just accurate pixel-wise.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849624"/>
            <a:ext cx="566928" cy="566928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deck/assets/che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3985687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831336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uncertainty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16736" y="4105656"/>
            <a:ext cx="5358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MC-Dropout gives per-voxel confidence, so predictions can be QA'd and trusted.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837176"/>
            <a:ext cx="566928" cy="566928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deck/assets/layer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4973239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818888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Watertight mesh export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16736" y="5093208"/>
            <a:ext cx="5358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→ marching cubes → repair → manifold STL that a CFD solver can use.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995160" y="1874520"/>
            <a:ext cx="4645152" cy="3886200"/>
          </a:xfrm>
          <a:prstGeom prst="roundRect">
            <a:avLst>
              <a:gd name="adj" fmla="val 3294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7269480" y="209397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results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269480" y="2587752"/>
            <a:ext cx="19385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7397496" y="26974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0.951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7397496" y="3191256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— spinal cord segmentation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427464" y="2587752"/>
            <a:ext cx="19385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9555480" y="26974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9555480" y="3191256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Meshes watertight &amp; manifold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269480" y="3941064"/>
            <a:ext cx="19385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397496" y="405079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7397496" y="4544568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— uncertainty calibration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9427464" y="3941064"/>
            <a:ext cx="19385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9555480" y="405079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vendors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9555480" y="4544568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· Philips · Siemens validated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269480" y="537667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prior exploration; targets for full validation.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  ·  Work Portfolio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IMAGING  ·  01 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flow simulation &amp; 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1883664" cy="914400"/>
          </a:xfrm>
          <a:prstGeom prst="roundRect">
            <a:avLst>
              <a:gd name="adj" fmla="val 8000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2212848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Watertight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</a:t>
            </a:r>
            <a:endParaRPr lang="en-US" sz="1100" dirty="0"/>
          </a:p>
        </p:txBody>
      </p:sp>
      <p:pic>
        <p:nvPicPr>
          <p:cNvPr id="7" name="Image 0" descr="/home/claude/deck/assets/flow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024" y="2560320"/>
            <a:ext cx="219456" cy="219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24912" y="2212848"/>
            <a:ext cx="1883664" cy="914400"/>
          </a:xfrm>
          <a:prstGeom prst="roundRect">
            <a:avLst>
              <a:gd name="adj" fmla="val 8000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79776" y="2212848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OpenFOAM case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(caps + BCs)</a:t>
            </a:r>
            <a:endParaRPr lang="en-US" sz="1100" dirty="0"/>
          </a:p>
        </p:txBody>
      </p:sp>
      <p:pic>
        <p:nvPicPr>
          <p:cNvPr id="10" name="Image 1" descr="/home/claude/deck/assets/flow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560320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82896" y="2212848"/>
            <a:ext cx="1883664" cy="914400"/>
          </a:xfrm>
          <a:prstGeom prst="roundRect">
            <a:avLst>
              <a:gd name="adj" fmla="val 8000"/>
            </a:avLst>
          </a:prstGeom>
          <a:solidFill>
            <a:srgbClr val="1C7C8C"/>
          </a:solidFill>
          <a:ln/>
          <a:effectLst>
            <a:outerShdw blurRad="76200" dist="38100" dir="5400000" algn="bl" rotWithShape="0">
              <a:srgbClr val="0B21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937760" y="2212848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flow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5943600" cy="868680"/>
          </a:xfrm>
          <a:prstGeom prst="roundRect">
            <a:avLst>
              <a:gd name="adj" fmla="val 12632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68096" y="3639312"/>
            <a:ext cx="457200" cy="457200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ck/assets/wav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74904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474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 </a:t>
            </a: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· velocity · wall-shear-stress fields across the fluid domain.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434840"/>
            <a:ext cx="5943600" cy="868680"/>
          </a:xfrm>
          <a:prstGeom prst="roundRect">
            <a:avLst>
              <a:gd name="adj" fmla="val 12632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68096" y="4645152"/>
            <a:ext cx="457200" cy="457200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deck/assets/flas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75488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480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conditions:  </a:t>
            </a: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CSF waveforms at multiple spinal levels, until patient PC-MRI data is available.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812280" y="1828800"/>
            <a:ext cx="4828032" cy="3886200"/>
          </a:xfrm>
          <a:prstGeom prst="roundRect">
            <a:avLst>
              <a:gd name="adj" fmla="val 3294"/>
            </a:avLst>
          </a:prstGeom>
          <a:solidFill>
            <a:srgbClr val="0B213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086600" y="2103120"/>
            <a:ext cx="566928" cy="566928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deck/assets/trend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2663" y="2239183"/>
            <a:ext cx="294803" cy="29480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86600" y="2779776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next quarter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7086600" y="3200400"/>
            <a:ext cx="42793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</a:t>
            </a:r>
            <a:r>
              <a:rPr lang="en-US" sz="1200" dirty="0">
                <a:solidFill>
                  <a:srgbClr val="D3E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mesh, and CFD case-generation are implemented — an active proof-of-concept.
</a:t>
            </a: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r>
              <a:rPr lang="en-US" sz="1200" dirty="0">
                <a:solidFill>
                  <a:srgbClr val="D3E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reproducible performance and characterize failure modes across MRI sequences; move toward patient-specific waveforms.
</a:t>
            </a: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</a:t>
            </a:r>
            <a:r>
              <a:rPr lang="en-US" sz="1200" dirty="0">
                <a:solidFill>
                  <a:srgbClr val="D3E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automated, patient-specific in-silico workflow — informing dose, injection protocol, and drug distribution.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  ·  Work Portfolio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IMAGING  ·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NGTX — faster imaging-model iteration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783080"/>
          </a:xfrm>
          <a:prstGeom prst="roundRect">
            <a:avLst>
              <a:gd name="adj" fmla="val 7179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30552"/>
            <a:ext cx="548640" cy="548640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assets/micro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26222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21854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the NGTX 2D extraction workflow and added overlays of the model's segmentation against ground truth.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913632"/>
            <a:ext cx="5394960" cy="1783080"/>
          </a:xfrm>
          <a:prstGeom prst="roundRect">
            <a:avLst>
              <a:gd name="adj" fmla="val 7179"/>
            </a:avLst>
          </a:prstGeom>
          <a:solidFill>
            <a:srgbClr val="0B213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2960" y="4169664"/>
            <a:ext cx="548640" cy="548640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/assets/targe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301338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6192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822960" y="482803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locations became directly visible</a:t>
            </a:r>
            <a:r>
              <a:rPr lang="en-US" sz="1200" dirty="0">
                <a:solidFill>
                  <a:srgbClr val="D3E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enabling targeted debugging and much faster model iteration.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874520"/>
            <a:ext cx="5330952" cy="3822192"/>
          </a:xfrm>
          <a:prstGeom prst="roundRect">
            <a:avLst>
              <a:gd name="adj" fmla="val 3349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583680" y="2093976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iteration loop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720840" y="2624328"/>
            <a:ext cx="4507992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848856" y="2724912"/>
            <a:ext cx="402336" cy="402336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ck/assets/scan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417" y="2821473"/>
            <a:ext cx="209215" cy="2092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60920" y="2624328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</p:txBody>
      </p:sp>
      <p:pic>
        <p:nvPicPr>
          <p:cNvPr id="20" name="Image 3" descr="/home/claude/deck/assets/flow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013448" y="3209544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20840" y="3392424"/>
            <a:ext cx="4507992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848856" y="3493008"/>
            <a:ext cx="402336" cy="402336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deck/assets/cube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5417" y="3589569"/>
            <a:ext cx="209215" cy="20921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60920" y="3392424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vs. ground truth</a:t>
            </a:r>
            <a:endParaRPr lang="en-US" sz="1250" dirty="0"/>
          </a:p>
        </p:txBody>
      </p:sp>
      <p:pic>
        <p:nvPicPr>
          <p:cNvPr id="25" name="Image 5" descr="/home/claude/deck/assets/flow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013448" y="3977640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720840" y="4160520"/>
            <a:ext cx="4507992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6848856" y="4261104"/>
            <a:ext cx="402336" cy="402336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/home/claude/deck/assets/target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5417" y="4357665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60920" y="4160520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failures</a:t>
            </a:r>
            <a:endParaRPr lang="en-US" sz="1250" dirty="0"/>
          </a:p>
        </p:txBody>
      </p:sp>
      <p:pic>
        <p:nvPicPr>
          <p:cNvPr id="30" name="Image 7" descr="/home/claude/deck/assets/flow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013448" y="4745736"/>
            <a:ext cx="201168" cy="201168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720840" y="4928616"/>
            <a:ext cx="4507992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2"/>
          <p:cNvSpPr/>
          <p:nvPr/>
        </p:nvSpPr>
        <p:spPr>
          <a:xfrm>
            <a:off x="6848856" y="5029200"/>
            <a:ext cx="402336" cy="402336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8" descr="/home/claude/deck/assets/bolt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5417" y="5125761"/>
            <a:ext cx="209215" cy="20921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360920" y="4928616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re-run</a:t>
            </a:r>
            <a:endParaRPr lang="en-US" sz="1250" dirty="0"/>
          </a:p>
        </p:txBody>
      </p:sp>
      <p:sp>
        <p:nvSpPr>
          <p:cNvPr id="35" name="Text 24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  ·  Work Portfolio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 &amp; OPTIMIZATION  ·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Gateway — enabling computer-vision workloads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051560"/>
          </a:xfrm>
          <a:prstGeom prst="roundRect">
            <a:avLst>
              <a:gd name="adj" fmla="val 12174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29968"/>
            <a:ext cx="548640" cy="548640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assets/serve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1616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9811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 </a:t>
            </a:r>
            <a:r>
              <a:rPr lang="en-US" sz="13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model platform (MAGTrain) was built for text and tabular data — not imaging.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5486400" cy="2606040"/>
          </a:xfrm>
          <a:prstGeom prst="roundRect">
            <a:avLst>
              <a:gd name="adj" fmla="val 4912"/>
            </a:avLst>
          </a:prstGeom>
          <a:solidFill>
            <a:srgbClr val="0B213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2960" y="3364992"/>
            <a:ext cx="548640" cy="548640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ck/assets/pipelin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3496666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34198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22960" y="4041648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3E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Partnered with the Model Gateway team to map what imaging actually needs — image ingestion and CV-model packaging/deployment — and clarified the feature gaps. </a:t>
            </a: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enablement and collaboration, not ownership.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55080" y="3108960"/>
            <a:ext cx="5285232" cy="2606040"/>
          </a:xfrm>
          <a:prstGeom prst="roundRect">
            <a:avLst>
              <a:gd name="adj" fmla="val 4912"/>
            </a:avLst>
          </a:prstGeom>
          <a:solidFill>
            <a:srgbClr val="F2F7F8"/>
          </a:solidFill>
          <a:ln w="12700">
            <a:solidFill>
              <a:srgbClr val="DBE5E8"/>
            </a:solidFill>
            <a:prstDash val="solid"/>
          </a:ln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629400" y="3310128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611112" y="3767328"/>
            <a:ext cx="4773168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702552" y="3858768"/>
            <a:ext cx="365760" cy="365760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ck/assets/che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334" y="394655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78040" y="3767328"/>
            <a:ext cx="26252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tabular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9236354" y="3767328"/>
            <a:ext cx="2019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today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611112" y="4425696"/>
            <a:ext cx="4773168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702552" y="4517136"/>
            <a:ext cx="365760" cy="365760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ck/assets/scan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0334" y="4604918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425696"/>
            <a:ext cx="26252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ingestion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9236354" y="4425696"/>
            <a:ext cx="2019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611112" y="5084064"/>
            <a:ext cx="4773168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702552" y="5175504"/>
            <a:ext cx="365760" cy="365760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deck/assets/cube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0334" y="5263286"/>
            <a:ext cx="190195" cy="1901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78040" y="5084064"/>
            <a:ext cx="26252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CV-model packaging &amp; deploy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236354" y="5084064"/>
            <a:ext cx="2019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  ·  Work Portfolio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 &amp; OPTIMIZATION  ·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SFS-sizing — optimization for a business unit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assets/slider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20563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90195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enhancements delivered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16736" y="2176272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SFS Alignment, orchestration, and algorithm improvements to the BU's sizing workflow.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35808"/>
            <a:ext cx="566928" cy="566928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deck/assets/gear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171871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3017520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+ MILP optimization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16736" y="3291840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mixed-integer programming with heuristics to solve sizing / allocation efficiently.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51376"/>
            <a:ext cx="566928" cy="566928"/>
          </a:xfrm>
          <a:prstGeom prst="ellipse">
            <a:avLst/>
          </a:prstGeom>
          <a:solidFill>
            <a:srgbClr val="D8F2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deck/assets/che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428743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4133088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on schedule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16736" y="4407408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scope completed in Q1 2026, then capacity transitioned to Research &amp; Discovery imaging.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949440" y="1920240"/>
            <a:ext cx="4690872" cy="1554480"/>
          </a:xfrm>
          <a:prstGeom prst="roundRect">
            <a:avLst>
              <a:gd name="adj" fmla="val 8235"/>
            </a:avLst>
          </a:prstGeom>
          <a:solidFill>
            <a:srgbClr val="0B213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223760" y="2176272"/>
            <a:ext cx="566928" cy="566928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ck/assets/sliders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823" y="2312335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278892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Operations-research toolkit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223760" y="310896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E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+ heuristics, orchestration, algorithmic tuning.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49440" y="3611880"/>
            <a:ext cx="4690872" cy="1051560"/>
          </a:xfrm>
          <a:prstGeom prst="roundRect">
            <a:avLst>
              <a:gd name="adj" fmla="val 10435"/>
            </a:avLst>
          </a:prstGeom>
          <a:solidFill>
            <a:srgbClr val="F2F7F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059168" y="3721608"/>
            <a:ext cx="447141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2700" dirty="0"/>
          </a:p>
        </p:txBody>
      </p:sp>
      <p:sp>
        <p:nvSpPr>
          <p:cNvPr id="23" name="Text 17"/>
          <p:cNvSpPr/>
          <p:nvPr/>
        </p:nvSpPr>
        <p:spPr>
          <a:xfrm>
            <a:off x="7059168" y="4200754"/>
            <a:ext cx="4471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BU scope delivered, then re-deployed to imaging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949440" y="48006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2F7F8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059168" y="4910328"/>
            <a:ext cx="447141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</a:t>
            </a:r>
            <a:endParaRPr lang="en-US" sz="2700" dirty="0"/>
          </a:p>
        </p:txBody>
      </p:sp>
      <p:sp>
        <p:nvSpPr>
          <p:cNvPr id="26" name="Text 20"/>
          <p:cNvSpPr/>
          <p:nvPr/>
        </p:nvSpPr>
        <p:spPr>
          <a:xfrm>
            <a:off x="7059168" y="5338267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Mixed-integer optimization at the core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Hashim  ·  Work Portfolio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920240"/>
            <a:ext cx="5120640" cy="5120640"/>
          </a:xfrm>
          <a:prstGeom prst="ellipse">
            <a:avLst/>
          </a:prstGeom>
          <a:solidFill>
            <a:srgbClr val="1C7C8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3474720"/>
            <a:ext cx="4206240" cy="420624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463040" y="4572000"/>
            <a:ext cx="3474720" cy="3474720"/>
          </a:xfrm>
          <a:prstGeom prst="ellipse">
            <a:avLst/>
          </a:prstGeom>
          <a:solidFill>
            <a:srgbClr val="1C7C8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bring to your team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03504" cy="603504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assets/atom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2293681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2112264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drug discovery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35024" y="244144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AE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selection + property prediction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603504" cy="603504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assets/brain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" y="343668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35024" y="3255264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+ simulation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35024" y="358444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AE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meshing &amp; CFD digital-twin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603504" cy="603504"/>
          </a:xfrm>
          <a:prstGeom prst="ellipse">
            <a:avLst/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assets/server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81" y="4579681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35024" y="4398264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optimization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35024" y="472744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AE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shared infra + OR methods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2103120"/>
            <a:ext cx="5513832" cy="2788920"/>
          </a:xfrm>
          <a:prstGeom prst="roundRect">
            <a:avLst>
              <a:gd name="adj" fmla="val 4590"/>
            </a:avLst>
          </a:prstGeom>
          <a:solidFill>
            <a:srgbClr val="13324A"/>
          </a:solidFill>
          <a:ln/>
          <a:effectLst>
            <a:outerShdw blurRad="114300" dist="38100" dir="5400000" algn="bl" rotWithShape="0">
              <a:srgbClr val="0B21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446520" y="2322576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46520" y="2761488"/>
            <a:ext cx="4873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 algn="l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— data → model → deployment (FastAPI, shared infra)</a:t>
            </a:r>
            <a:endParaRPr lang="en-US" sz="1250" dirty="0"/>
          </a:p>
          <a:p>
            <a:pPr marL="228600" indent="-228600" algn="l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+ physics-based simulation (segmentation, meshing, CFD)</a:t>
            </a:r>
            <a:endParaRPr lang="en-US" sz="1250" dirty="0"/>
          </a:p>
          <a:p>
            <a:pPr marL="228600" indent="-228600" algn="l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property prediction with physics-informed features</a:t>
            </a:r>
            <a:endParaRPr lang="en-US" sz="1250" dirty="0"/>
          </a:p>
          <a:p>
            <a:pPr marL="228600" indent="-228600" algn="l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track record — shipped BU scope on time; now driving an imaging POC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394960"/>
            <a:ext cx="2622042" cy="1005840"/>
          </a:xfrm>
          <a:prstGeom prst="roundRect">
            <a:avLst>
              <a:gd name="adj" fmla="val 10909"/>
            </a:avLst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94944" y="5522976"/>
            <a:ext cx="2329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94944" y="5961888"/>
            <a:ext cx="23294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E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→ CFD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371850" y="5394960"/>
            <a:ext cx="2622042" cy="1005840"/>
          </a:xfrm>
          <a:prstGeom prst="roundRect">
            <a:avLst>
              <a:gd name="adj" fmla="val 10909"/>
            </a:avLst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518154" y="5522976"/>
            <a:ext cx="2329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~0.93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3518154" y="5961888"/>
            <a:ext cx="23294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E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solubility (hybrid)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195060" y="5394960"/>
            <a:ext cx="2622042" cy="1005840"/>
          </a:xfrm>
          <a:prstGeom prst="roundRect">
            <a:avLst>
              <a:gd name="adj" fmla="val 10909"/>
            </a:avLst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341364" y="5522976"/>
            <a:ext cx="2329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65→95%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6341364" y="5961888"/>
            <a:ext cx="23294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E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018270" y="5394960"/>
            <a:ext cx="2622042" cy="1005840"/>
          </a:xfrm>
          <a:prstGeom prst="roundRect">
            <a:avLst>
              <a:gd name="adj" fmla="val 10909"/>
            </a:avLst>
          </a:prstGeom>
          <a:solidFill>
            <a:srgbClr val="133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9164574" y="5522976"/>
            <a:ext cx="2329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3-vendor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9164574" y="5961888"/>
            <a:ext cx="23294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E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validated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1326</Words>
  <Application>Microsoft Macintosh PowerPoint</Application>
  <PresentationFormat>Widescreen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HASHIM MD -CA (L091835)</cp:lastModifiedBy>
  <cp:revision>2</cp:revision>
  <dcterms:created xsi:type="dcterms:W3CDTF">2026-08-24T08:12:57Z</dcterms:created>
  <dcterms:modified xsi:type="dcterms:W3CDTF">2026-08-24T09:10:00Z</dcterms:modified>
</cp:coreProperties>
</file>